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B3F"/>
    <a:srgbClr val="3B1580"/>
    <a:srgbClr val="6C4DC8"/>
    <a:srgbClr val="EAF0FA"/>
    <a:srgbClr val="F28C28"/>
    <a:srgbClr val="F0E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9E772E-993A-4D2F-A03A-C0A1125FEB2A}" v="19" dt="2026-09-15T10:28:30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dhi Jain" userId="3e01a2fb512e1c99" providerId="LiveId" clId="{EA6DC819-F413-4FD4-A9D6-0A4017C2DD6D}"/>
    <pc:docChg chg="undo custSel modSld">
      <pc:chgData name="Ridhi Jain" userId="3e01a2fb512e1c99" providerId="LiveId" clId="{EA6DC819-F413-4FD4-A9D6-0A4017C2DD6D}" dt="2026-09-15T10:38:28.712" v="62" actId="478"/>
      <pc:docMkLst>
        <pc:docMk/>
      </pc:docMkLst>
      <pc:sldChg chg="modSp mod modTransition setBg">
        <pc:chgData name="Ridhi Jain" userId="3e01a2fb512e1c99" providerId="LiveId" clId="{EA6DC819-F413-4FD4-A9D6-0A4017C2DD6D}" dt="2026-09-15T10:36:42.315" v="47" actId="14100"/>
        <pc:sldMkLst>
          <pc:docMk/>
          <pc:sldMk cId="4258527946" sldId="256"/>
        </pc:sldMkLst>
        <pc:spChg chg="mod">
          <ac:chgData name="Ridhi Jain" userId="3e01a2fb512e1c99" providerId="LiveId" clId="{EA6DC819-F413-4FD4-A9D6-0A4017C2DD6D}" dt="2026-09-15T10:36:34.825" v="46" actId="115"/>
          <ac:spMkLst>
            <pc:docMk/>
            <pc:sldMk cId="4258527946" sldId="256"/>
            <ac:spMk id="2" creationId="{2F814865-D602-60B0-B4EC-78DB308E97A3}"/>
          </ac:spMkLst>
        </pc:spChg>
        <pc:spChg chg="mod">
          <ac:chgData name="Ridhi Jain" userId="3e01a2fb512e1c99" providerId="LiveId" clId="{EA6DC819-F413-4FD4-A9D6-0A4017C2DD6D}" dt="2026-09-15T10:36:42.315" v="47" actId="14100"/>
          <ac:spMkLst>
            <pc:docMk/>
            <pc:sldMk cId="4258527946" sldId="256"/>
            <ac:spMk id="3" creationId="{3EE8E4DE-7811-E297-745A-AA617F5FF46D}"/>
          </ac:spMkLst>
        </pc:spChg>
      </pc:sldChg>
      <pc:sldChg chg="modTransition">
        <pc:chgData name="Ridhi Jain" userId="3e01a2fb512e1c99" providerId="LiveId" clId="{EA6DC819-F413-4FD4-A9D6-0A4017C2DD6D}" dt="2026-09-15T10:27:33.399" v="35"/>
        <pc:sldMkLst>
          <pc:docMk/>
          <pc:sldMk cId="2344118561" sldId="257"/>
        </pc:sldMkLst>
      </pc:sldChg>
      <pc:sldChg chg="modTransition">
        <pc:chgData name="Ridhi Jain" userId="3e01a2fb512e1c99" providerId="LiveId" clId="{EA6DC819-F413-4FD4-A9D6-0A4017C2DD6D}" dt="2026-09-15T10:27:33.399" v="35"/>
        <pc:sldMkLst>
          <pc:docMk/>
          <pc:sldMk cId="3082464096" sldId="258"/>
        </pc:sldMkLst>
      </pc:sldChg>
      <pc:sldChg chg="addSp delSp modSp mod modTransition">
        <pc:chgData name="Ridhi Jain" userId="3e01a2fb512e1c99" providerId="LiveId" clId="{EA6DC819-F413-4FD4-A9D6-0A4017C2DD6D}" dt="2026-09-15T10:38:28.712" v="62" actId="478"/>
        <pc:sldMkLst>
          <pc:docMk/>
          <pc:sldMk cId="3824336502" sldId="259"/>
        </pc:sldMkLst>
        <pc:spChg chg="mod">
          <ac:chgData name="Ridhi Jain" userId="3e01a2fb512e1c99" providerId="LiveId" clId="{EA6DC819-F413-4FD4-A9D6-0A4017C2DD6D}" dt="2026-09-15T10:37:22.489" v="51" actId="14100"/>
          <ac:spMkLst>
            <pc:docMk/>
            <pc:sldMk cId="3824336502" sldId="259"/>
            <ac:spMk id="2" creationId="{F95AE11C-A99E-CFF9-0B91-67BD9FA5DC23}"/>
          </ac:spMkLst>
        </pc:spChg>
        <pc:spChg chg="mod">
          <ac:chgData name="Ridhi Jain" userId="3e01a2fb512e1c99" providerId="LiveId" clId="{EA6DC819-F413-4FD4-A9D6-0A4017C2DD6D}" dt="2026-09-15T10:26:12.859" v="28" actId="207"/>
          <ac:spMkLst>
            <pc:docMk/>
            <pc:sldMk cId="3824336502" sldId="259"/>
            <ac:spMk id="3" creationId="{4115F4B2-A8ED-362B-41F7-31818B049CEF}"/>
          </ac:spMkLst>
        </pc:spChg>
        <pc:spChg chg="mod">
          <ac:chgData name="Ridhi Jain" userId="3e01a2fb512e1c99" providerId="LiveId" clId="{EA6DC819-F413-4FD4-A9D6-0A4017C2DD6D}" dt="2026-09-15T10:26:12.373" v="27" actId="207"/>
          <ac:spMkLst>
            <pc:docMk/>
            <pc:sldMk cId="3824336502" sldId="259"/>
            <ac:spMk id="6" creationId="{6AA536B6-EAE1-7AF3-38B5-7587A02875D0}"/>
          </ac:spMkLst>
        </pc:spChg>
        <pc:spChg chg="del mod">
          <ac:chgData name="Ridhi Jain" userId="3e01a2fb512e1c99" providerId="LiveId" clId="{EA6DC819-F413-4FD4-A9D6-0A4017C2DD6D}" dt="2026-09-15T10:37:15.130" v="49" actId="478"/>
          <ac:spMkLst>
            <pc:docMk/>
            <pc:sldMk cId="3824336502" sldId="259"/>
            <ac:spMk id="22" creationId="{568174F8-FB19-452D-2011-0CB639DEE747}"/>
          </ac:spMkLst>
        </pc:spChg>
        <pc:spChg chg="add del mod">
          <ac:chgData name="Ridhi Jain" userId="3e01a2fb512e1c99" providerId="LiveId" clId="{EA6DC819-F413-4FD4-A9D6-0A4017C2DD6D}" dt="2026-09-15T10:38:28.712" v="62" actId="478"/>
          <ac:spMkLst>
            <pc:docMk/>
            <pc:sldMk cId="3824336502" sldId="259"/>
            <ac:spMk id="26" creationId="{8E74C397-132C-E043-4BC0-5B24FB9FF979}"/>
          </ac:spMkLst>
        </pc:spChg>
        <pc:cxnChg chg="add del mod ord">
          <ac:chgData name="Ridhi Jain" userId="3e01a2fb512e1c99" providerId="LiveId" clId="{EA6DC819-F413-4FD4-A9D6-0A4017C2DD6D}" dt="2026-09-15T10:37:48.639" v="55" actId="478"/>
          <ac:cxnSpMkLst>
            <pc:docMk/>
            <pc:sldMk cId="3824336502" sldId="259"/>
            <ac:cxnSpMk id="25" creationId="{248D740C-EF3C-0E08-0041-CAA8E5B7896D}"/>
          </ac:cxnSpMkLst>
        </pc:cxnChg>
      </pc:sldChg>
      <pc:sldChg chg="modTransition">
        <pc:chgData name="Ridhi Jain" userId="3e01a2fb512e1c99" providerId="LiveId" clId="{EA6DC819-F413-4FD4-A9D6-0A4017C2DD6D}" dt="2026-09-15T10:27:33.399" v="35"/>
        <pc:sldMkLst>
          <pc:docMk/>
          <pc:sldMk cId="3522027502" sldId="260"/>
        </pc:sldMkLst>
      </pc:sldChg>
      <pc:sldChg chg="modTransition">
        <pc:chgData name="Ridhi Jain" userId="3e01a2fb512e1c99" providerId="LiveId" clId="{EA6DC819-F413-4FD4-A9D6-0A4017C2DD6D}" dt="2026-09-15T10:27:33.399" v="35"/>
        <pc:sldMkLst>
          <pc:docMk/>
          <pc:sldMk cId="3965000387" sldId="261"/>
        </pc:sldMkLst>
      </pc:sldChg>
      <pc:sldChg chg="modTransition">
        <pc:chgData name="Ridhi Jain" userId="3e01a2fb512e1c99" providerId="LiveId" clId="{EA6DC819-F413-4FD4-A9D6-0A4017C2DD6D}" dt="2026-09-15T10:27:33.399" v="35"/>
        <pc:sldMkLst>
          <pc:docMk/>
          <pc:sldMk cId="1477375689" sldId="262"/>
        </pc:sldMkLst>
      </pc:sldChg>
      <pc:sldChg chg="modTransition">
        <pc:chgData name="Ridhi Jain" userId="3e01a2fb512e1c99" providerId="LiveId" clId="{EA6DC819-F413-4FD4-A9D6-0A4017C2DD6D}" dt="2026-09-15T10:27:33.399" v="35"/>
        <pc:sldMkLst>
          <pc:docMk/>
          <pc:sldMk cId="678708338" sldId="263"/>
        </pc:sldMkLst>
      </pc:sldChg>
      <pc:sldChg chg="modTransition">
        <pc:chgData name="Ridhi Jain" userId="3e01a2fb512e1c99" providerId="LiveId" clId="{EA6DC819-F413-4FD4-A9D6-0A4017C2DD6D}" dt="2026-09-15T10:27:33.399" v="35"/>
        <pc:sldMkLst>
          <pc:docMk/>
          <pc:sldMk cId="2923899109" sldId="264"/>
        </pc:sldMkLst>
      </pc:sldChg>
      <pc:sldChg chg="modTransition">
        <pc:chgData name="Ridhi Jain" userId="3e01a2fb512e1c99" providerId="LiveId" clId="{EA6DC819-F413-4FD4-A9D6-0A4017C2DD6D}" dt="2026-09-15T10:27:33.399" v="35"/>
        <pc:sldMkLst>
          <pc:docMk/>
          <pc:sldMk cId="1399948714" sldId="265"/>
        </pc:sldMkLst>
      </pc:sldChg>
      <pc:sldChg chg="modTransition">
        <pc:chgData name="Ridhi Jain" userId="3e01a2fb512e1c99" providerId="LiveId" clId="{EA6DC819-F413-4FD4-A9D6-0A4017C2DD6D}" dt="2026-09-15T10:27:33.399" v="35"/>
        <pc:sldMkLst>
          <pc:docMk/>
          <pc:sldMk cId="2937547706" sldId="266"/>
        </pc:sldMkLst>
      </pc:sldChg>
      <pc:sldChg chg="modTransition">
        <pc:chgData name="Ridhi Jain" userId="3e01a2fb512e1c99" providerId="LiveId" clId="{EA6DC819-F413-4FD4-A9D6-0A4017C2DD6D}" dt="2026-09-15T10:27:33.399" v="35"/>
        <pc:sldMkLst>
          <pc:docMk/>
          <pc:sldMk cId="3296080453" sldId="267"/>
        </pc:sldMkLst>
      </pc:sldChg>
      <pc:sldChg chg="modSp mod modTransition">
        <pc:chgData name="Ridhi Jain" userId="3e01a2fb512e1c99" providerId="LiveId" clId="{EA6DC819-F413-4FD4-A9D6-0A4017C2DD6D}" dt="2026-09-15T10:27:33.399" v="35"/>
        <pc:sldMkLst>
          <pc:docMk/>
          <pc:sldMk cId="3600163379" sldId="268"/>
        </pc:sldMkLst>
        <pc:spChg chg="mod">
          <ac:chgData name="Ridhi Jain" userId="3e01a2fb512e1c99" providerId="LiveId" clId="{EA6DC819-F413-4FD4-A9D6-0A4017C2DD6D}" dt="2026-09-15T10:24:44.865" v="18" actId="207"/>
          <ac:spMkLst>
            <pc:docMk/>
            <pc:sldMk cId="3600163379" sldId="268"/>
            <ac:spMk id="3" creationId="{48F6A1EA-BB12-3C0D-D328-519F3885AB1A}"/>
          </ac:spMkLst>
        </pc:spChg>
        <pc:spChg chg="mod">
          <ac:chgData name="Ridhi Jain" userId="3e01a2fb512e1c99" providerId="LiveId" clId="{EA6DC819-F413-4FD4-A9D6-0A4017C2DD6D}" dt="2026-09-15T10:25:04.779" v="23" actId="207"/>
          <ac:spMkLst>
            <pc:docMk/>
            <pc:sldMk cId="3600163379" sldId="268"/>
            <ac:spMk id="4" creationId="{B48FB110-6C63-75CF-A620-98C38B16CE1C}"/>
          </ac:spMkLst>
        </pc:spChg>
        <pc:spChg chg="mod">
          <ac:chgData name="Ridhi Jain" userId="3e01a2fb512e1c99" providerId="LiveId" clId="{EA6DC819-F413-4FD4-A9D6-0A4017C2DD6D}" dt="2026-09-15T10:24:48.496" v="19" actId="207"/>
          <ac:spMkLst>
            <pc:docMk/>
            <pc:sldMk cId="3600163379" sldId="268"/>
            <ac:spMk id="8" creationId="{96893029-AE45-5A01-28B5-450B544D6744}"/>
          </ac:spMkLst>
        </pc:spChg>
        <pc:spChg chg="mod">
          <ac:chgData name="Ridhi Jain" userId="3e01a2fb512e1c99" providerId="LiveId" clId="{EA6DC819-F413-4FD4-A9D6-0A4017C2DD6D}" dt="2026-09-15T10:24:51.647" v="20" actId="207"/>
          <ac:spMkLst>
            <pc:docMk/>
            <pc:sldMk cId="3600163379" sldId="268"/>
            <ac:spMk id="14" creationId="{A67089D7-D37D-8696-125C-00571414583F}"/>
          </ac:spMkLst>
        </pc:spChg>
        <pc:spChg chg="mod">
          <ac:chgData name="Ridhi Jain" userId="3e01a2fb512e1c99" providerId="LiveId" clId="{EA6DC819-F413-4FD4-A9D6-0A4017C2DD6D}" dt="2026-09-15T10:24:55.643" v="21" actId="207"/>
          <ac:spMkLst>
            <pc:docMk/>
            <pc:sldMk cId="3600163379" sldId="268"/>
            <ac:spMk id="18" creationId="{A199F4C5-35F1-C3E9-1C5D-1B078EF12DB9}"/>
          </ac:spMkLst>
        </pc:spChg>
        <pc:cxnChg chg="mod">
          <ac:chgData name="Ridhi Jain" userId="3e01a2fb512e1c99" providerId="LiveId" clId="{EA6DC819-F413-4FD4-A9D6-0A4017C2DD6D}" dt="2026-09-15T10:23:33.864" v="8" actId="14100"/>
          <ac:cxnSpMkLst>
            <pc:docMk/>
            <pc:sldMk cId="3600163379" sldId="268"/>
            <ac:cxnSpMk id="20" creationId="{BEA43A4B-825F-2EB5-9AEA-A2A3713D9166}"/>
          </ac:cxnSpMkLst>
        </pc:cxnChg>
      </pc:sldChg>
      <pc:sldChg chg="modTransition">
        <pc:chgData name="Ridhi Jain" userId="3e01a2fb512e1c99" providerId="LiveId" clId="{EA6DC819-F413-4FD4-A9D6-0A4017C2DD6D}" dt="2026-09-15T10:28:30.942" v="40"/>
        <pc:sldMkLst>
          <pc:docMk/>
          <pc:sldMk cId="411189042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E0C73-BFA0-42EB-80AB-BC95ADD0C0E5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E348F-8348-4C26-B627-3F351C8BB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690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E348F-8348-4C26-B627-3F351C8BB31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87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E348F-8348-4C26-B627-3F351C8BB31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321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C48AA-FBAB-29AA-1961-FE3038F08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01736-FC9C-6C97-B8B5-6319EFED7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B8F58-6724-2605-E2E9-E95697FDD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192EC-3E0F-6173-636A-093AB9FF2F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E348F-8348-4C26-B627-3F351C8BB31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174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4C3FC-88B8-2052-1E06-EEC1AF00A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8B50C-87E5-A2B2-05CC-EC64D89E4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A611F-9883-AD08-3F69-5C77B32D0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E0A3C-F7E5-4FEA-8E94-04F67F67FA17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A9736-2F87-E5FC-7F78-90834B965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09589-4EF5-8663-64A8-E07FC0843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AC7B-459C-4222-A54F-EA7ED82C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04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95D6-CA19-3DB9-3FCC-D75D40C09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9E0A7-5FBC-2D72-8B3C-989E3A759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036E1-741D-2939-5E20-25E5D6DBD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E0A3C-F7E5-4FEA-8E94-04F67F67FA17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37E83-BC3F-A792-3F4D-7BD5A09A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822BA-28D1-18B1-7BD1-8A4E1D670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AC7B-459C-4222-A54F-EA7ED82C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1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347CC-0255-992C-20A0-8E4AA04A2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F8940-2403-700B-9F9C-6D79CCD9C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96ABC-086D-AF69-6248-B2175392F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E0A3C-F7E5-4FEA-8E94-04F67F67FA17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3552-7784-188E-7FE4-4E9227BA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88953-C9D5-A836-AC98-47723B7F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AC7B-459C-4222-A54F-EA7ED82C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199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EA978-4E27-9FD4-8118-8B0801506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CACE0-D99B-6288-0984-4ADF67ECA8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50C9C-390D-7B09-1AA8-622D65E26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1F809-EE51-21E8-A282-87448CDB8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E0A3C-F7E5-4FEA-8E94-04F67F67FA17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72271-C11A-C205-EB2C-F578C82F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C1653-C942-3E3C-3EC8-F18A2699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AC7B-459C-4222-A54F-EA7ED82C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89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4F13E-708A-8EC6-5665-4A27DEF9D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1BEDD-588D-4881-0998-36DD4191D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3E42D-A468-8CE5-DE29-8DB9B44E9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320C8B-F959-DBA5-15F0-F7FCFDF13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50E14-1FFD-6EEA-E762-1B52388AC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CE6D2D-23B9-789C-2C8F-4174A5208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E0A3C-F7E5-4FEA-8E94-04F67F67FA17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012910-9DC2-6E7D-696C-69236D68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25E805-D7E8-CF5E-51C9-2A3699CD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AC7B-459C-4222-A54F-EA7ED82C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339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EF1E4-C3EF-EABA-FBFD-E65CDD813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473221-C6B9-3CB0-0D2D-8F6C2B4F2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E0A3C-F7E5-4FEA-8E94-04F67F67FA17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AB895-D67B-0C2C-DE7B-9B16F384E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228BB-8A76-41D4-175F-290497A2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AC7B-459C-4222-A54F-EA7ED82C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369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58EDDC-7896-42FC-5159-332705FE6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E0A3C-F7E5-4FEA-8E94-04F67F67FA17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18EEDE-48F4-EB62-3D06-89236FECE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FEDC8-1A9D-B951-3C21-11827B409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AC7B-459C-4222-A54F-EA7ED82C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18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DFB0F-456E-287D-D62A-2B06159AE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1BEFC-DADC-7A91-9548-5D532AFD3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7E740-8016-769E-AA82-98F59142B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2A5C1-969E-942A-66AF-FA71F8408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E0A3C-F7E5-4FEA-8E94-04F67F67FA17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EFEBC-72A4-656F-4FBB-ADE95111E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D226C-0E73-B986-9E84-186040D59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AC7B-459C-4222-A54F-EA7ED82C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431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D526-F992-C755-6DAA-9542E2DD0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A3686-DCCB-04F1-BB45-B70029576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46D0-658D-651E-2FCC-210F6D20C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2E61E-B0D7-E15A-5F8B-883EC5AE0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E0A3C-F7E5-4FEA-8E94-04F67F67FA17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D570E-AFA3-F981-E7EF-F45E3D3D6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28C5B-7F0D-9E1E-939E-E1E4EB59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AC7B-459C-4222-A54F-EA7ED82C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55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F6F4D-C8D2-9A01-BA9E-D5536359D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D6861-FFDB-1927-5D48-D8ABCB923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4AABA-9AE6-31F3-92D6-21FC1337A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E0A3C-F7E5-4FEA-8E94-04F67F67FA17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D46EA-3A4B-577A-F149-B94F51146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F1912-B394-09D8-D025-52BE719D5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AC7B-459C-4222-A54F-EA7ED82C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228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F74C9-59DA-2D79-8886-71C8B2B6B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54E006-EBB3-E38E-35FF-987710AA3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EB69C-DC76-9384-10EF-FC0262A1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E0A3C-F7E5-4FEA-8E94-04F67F67FA17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1726C-EABE-9CBD-FF03-93B176EE9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615A6-7D6C-5795-5349-8FB4DA0B8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AC7B-459C-4222-A54F-EA7ED82C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212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7CCCB4-D5D1-0C8A-ED86-5E81CB9D9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3E685-DA5C-D822-DFDA-1DD6CB690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FB487-B07B-88D5-FE9E-40A06A0C4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E0A3C-F7E5-4FEA-8E94-04F67F67FA17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DE724-BDD8-E762-93C7-ECC9BE2689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C2CFD-41CE-7777-A8B7-F6FA09608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0AC7B-459C-4222-A54F-EA7ED82C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6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56A96BE-424A-A11F-C760-52DD0CBC9C94}"/>
              </a:ext>
            </a:extLst>
          </p:cNvPr>
          <p:cNvSpPr/>
          <p:nvPr/>
        </p:nvSpPr>
        <p:spPr>
          <a:xfrm>
            <a:off x="558800" y="365760"/>
            <a:ext cx="2387600" cy="528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814865-D602-60B0-B4EC-78DB308E9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767" y="265471"/>
            <a:ext cx="11179277" cy="2990491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chemeClr val="bg1"/>
                </a:solidFill>
                <a:latin typeface="Arial Black" panose="020B0A04020102020204" pitchFamily="34" charset="0"/>
              </a:rPr>
              <a:t>Mutual Fund Analytics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8E4DE-7811-E297-745A-AA617F5FF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06477" y="3356251"/>
            <a:ext cx="12742606" cy="1901549"/>
          </a:xfrm>
        </p:spPr>
        <p:txBody>
          <a:bodyPr>
            <a:normAutofit/>
          </a:bodyPr>
          <a:lstStyle/>
          <a:p>
            <a:r>
              <a:rPr lang="en-IN" sz="2000" i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Bluestock</a:t>
            </a:r>
            <a:r>
              <a:rPr lang="en-IN" sz="2000" i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Fintech Data Analyst Internship | Project Presentation Ridhi M. Jain</a:t>
            </a:r>
          </a:p>
        </p:txBody>
      </p:sp>
      <p:pic>
        <p:nvPicPr>
          <p:cNvPr id="7" name="Picture 6" descr="Bluestock - IPO Information Platform">
            <a:extLst>
              <a:ext uri="{FF2B5EF4-FFF2-40B4-BE49-F238E27FC236}">
                <a16:creationId xmlns:a16="http://schemas.microsoft.com/office/drawing/2014/main" id="{C6784D34-A064-B79A-FCB1-00782F447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67" y="497840"/>
            <a:ext cx="2245841" cy="28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527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C07654C6-7360-DE1A-10CD-F083F89AC6D1}"/>
              </a:ext>
            </a:extLst>
          </p:cNvPr>
          <p:cNvSpPr/>
          <p:nvPr/>
        </p:nvSpPr>
        <p:spPr>
          <a:xfrm>
            <a:off x="6527800" y="1733867"/>
            <a:ext cx="5181600" cy="4443095"/>
          </a:xfrm>
          <a:prstGeom prst="wedgeRectCallout">
            <a:avLst/>
          </a:prstGeom>
          <a:solidFill>
            <a:srgbClr val="101B3F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47B3E3-5965-8E87-69AC-072340CB6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95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rgbClr val="101B3F"/>
                </a:solidFill>
                <a:latin typeface="Britannic Bold" panose="020B0903060703020204" pitchFamily="34" charset="0"/>
              </a:rPr>
              <a:t>Problem &amp; Objective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12B16-7062-627E-CAFA-88FE438A88F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741160" y="2411093"/>
            <a:ext cx="4754880" cy="43513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sz="3200" b="1" dirty="0">
                <a:solidFill>
                  <a:srgbClr val="EAF0FA"/>
                </a:solidFill>
              </a:rPr>
              <a:t>Objective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Prepare and analyse mutual fund data.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Build an interactive dashboard to explore trends and performance.</a:t>
            </a:r>
          </a:p>
          <a:p>
            <a:endParaRPr lang="en-IN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1C3FC961-E6FA-B1B6-7B3C-F8399E7142A8}"/>
              </a:ext>
            </a:extLst>
          </p:cNvPr>
          <p:cNvSpPr/>
          <p:nvPr/>
        </p:nvSpPr>
        <p:spPr>
          <a:xfrm>
            <a:off x="838200" y="1733868"/>
            <a:ext cx="5181600" cy="4443095"/>
          </a:xfrm>
          <a:prstGeom prst="wedgeRectCallout">
            <a:avLst/>
          </a:prstGeom>
          <a:solidFill>
            <a:srgbClr val="101B3F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BF6A3-EF72-A528-067E-ECE3BF94116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24280" y="2411093"/>
            <a:ext cx="4577080" cy="4124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>
                <a:solidFill>
                  <a:srgbClr val="EAF0FA"/>
                </a:solidFill>
              </a:rPr>
              <a:t>Problem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Mutual fund data is available across different datasets.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Organising and comparing this information can be challenging.</a:t>
            </a:r>
          </a:p>
          <a:p>
            <a:pPr marL="0" lv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8" name="Minus Sign 7">
            <a:extLst>
              <a:ext uri="{FF2B5EF4-FFF2-40B4-BE49-F238E27FC236}">
                <a16:creationId xmlns:a16="http://schemas.microsoft.com/office/drawing/2014/main" id="{A1F3F5E5-47DF-2BA6-FB7A-DF5EE7513E55}"/>
              </a:ext>
            </a:extLst>
          </p:cNvPr>
          <p:cNvSpPr/>
          <p:nvPr/>
        </p:nvSpPr>
        <p:spPr>
          <a:xfrm>
            <a:off x="779780" y="1727038"/>
            <a:ext cx="2733040" cy="318453"/>
          </a:xfrm>
          <a:prstGeom prst="mathMinus">
            <a:avLst/>
          </a:prstGeom>
          <a:solidFill>
            <a:srgbClr val="F28C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F2437078-4213-C99E-63DF-FAACF1FAA9EC}"/>
              </a:ext>
            </a:extLst>
          </p:cNvPr>
          <p:cNvSpPr/>
          <p:nvPr/>
        </p:nvSpPr>
        <p:spPr>
          <a:xfrm>
            <a:off x="6385560" y="1733867"/>
            <a:ext cx="2733040" cy="318453"/>
          </a:xfrm>
          <a:prstGeom prst="mathMinus">
            <a:avLst/>
          </a:prstGeom>
          <a:solidFill>
            <a:srgbClr val="F28C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11856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8490919-1637-E4E5-263B-E1402A62C3E8}"/>
              </a:ext>
            </a:extLst>
          </p:cNvPr>
          <p:cNvSpPr/>
          <p:nvPr/>
        </p:nvSpPr>
        <p:spPr>
          <a:xfrm>
            <a:off x="6342380" y="1690688"/>
            <a:ext cx="5181600" cy="4443095"/>
          </a:xfrm>
          <a:prstGeom prst="rect">
            <a:avLst/>
          </a:prstGeom>
          <a:solidFill>
            <a:srgbClr val="101B3F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D51E56-0BEB-3EA6-A9DB-2E65A7D517FC}"/>
              </a:ext>
            </a:extLst>
          </p:cNvPr>
          <p:cNvSpPr/>
          <p:nvPr/>
        </p:nvSpPr>
        <p:spPr>
          <a:xfrm>
            <a:off x="838200" y="1690687"/>
            <a:ext cx="5181600" cy="4443095"/>
          </a:xfrm>
          <a:prstGeom prst="rect">
            <a:avLst/>
          </a:prstGeom>
          <a:solidFill>
            <a:srgbClr val="101B3F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B5106C-0C5D-3314-C584-4CE62535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121"/>
            <a:ext cx="10515600" cy="1390867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rgbClr val="101B3F"/>
                </a:solidFill>
                <a:latin typeface="Britannic Bold" panose="020B0903060703020204" pitchFamily="34" charset="0"/>
              </a:rPr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CDCEF-BD59-8F32-BFD9-2781E0B13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4800" y="1968203"/>
            <a:ext cx="7828280" cy="4327842"/>
          </a:xfrm>
        </p:spPr>
        <p:txBody>
          <a:bodyPr>
            <a:normAutofit/>
          </a:bodyPr>
          <a:lstStyle/>
          <a:p>
            <a:pPr lvl="0"/>
            <a:endParaRPr lang="en-IN" dirty="0"/>
          </a:p>
          <a:p>
            <a:pPr marL="0" indent="0">
              <a:buNone/>
            </a:pPr>
            <a:r>
              <a:rPr lang="en-IN" sz="3800" b="1" dirty="0">
                <a:solidFill>
                  <a:srgbClr val="EAF0FA"/>
                </a:solidFill>
              </a:rPr>
              <a:t>Tools</a:t>
            </a:r>
            <a:r>
              <a:rPr lang="en-IN" sz="3800" b="1" dirty="0">
                <a:solidFill>
                  <a:srgbClr val="101B3F"/>
                </a:solidFill>
              </a:rPr>
              <a:t> </a:t>
            </a:r>
            <a:r>
              <a:rPr lang="en-IN" sz="3800" b="1" dirty="0">
                <a:solidFill>
                  <a:srgbClr val="EAF0FA"/>
                </a:solidFill>
              </a:rPr>
              <a:t>used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Python and Pandas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SQLite and SQL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Power BI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84FC5B-EA23-7F91-1199-9EC192581C52}"/>
              </a:ext>
            </a:extLst>
          </p:cNvPr>
          <p:cNvSpPr txBox="1"/>
          <p:nvPr/>
        </p:nvSpPr>
        <p:spPr>
          <a:xfrm>
            <a:off x="1026160" y="2360550"/>
            <a:ext cx="549402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3800" b="1" dirty="0">
                <a:solidFill>
                  <a:srgbClr val="EAF0FA"/>
                </a:solidFill>
              </a:rPr>
              <a:t>Datasets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Fund master and NAV data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AUM and fund performance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SIP inflows and folio counts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Investor transactions and holdings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Benchmark index data</a:t>
            </a:r>
          </a:p>
        </p:txBody>
      </p:sp>
      <p:sp>
        <p:nvSpPr>
          <p:cNvPr id="17" name="Minus Sign 16">
            <a:extLst>
              <a:ext uri="{FF2B5EF4-FFF2-40B4-BE49-F238E27FC236}">
                <a16:creationId xmlns:a16="http://schemas.microsoft.com/office/drawing/2014/main" id="{BD693455-C1E8-8991-E305-B4448C243DDA}"/>
              </a:ext>
            </a:extLst>
          </p:cNvPr>
          <p:cNvSpPr/>
          <p:nvPr/>
        </p:nvSpPr>
        <p:spPr>
          <a:xfrm>
            <a:off x="779780" y="1646515"/>
            <a:ext cx="2733040" cy="318453"/>
          </a:xfrm>
          <a:prstGeom prst="mathMinus">
            <a:avLst/>
          </a:prstGeom>
          <a:solidFill>
            <a:srgbClr val="F28C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AC5AC18E-3693-9841-FF91-A44DAABCAE13}"/>
              </a:ext>
            </a:extLst>
          </p:cNvPr>
          <p:cNvSpPr/>
          <p:nvPr/>
        </p:nvSpPr>
        <p:spPr>
          <a:xfrm>
            <a:off x="6342380" y="1656179"/>
            <a:ext cx="2733040" cy="318453"/>
          </a:xfrm>
          <a:prstGeom prst="mathMinus">
            <a:avLst/>
          </a:prstGeom>
          <a:solidFill>
            <a:srgbClr val="F28C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9D0D4F-EAC7-8446-E8ED-78EE6EA35166}"/>
              </a:ext>
            </a:extLst>
          </p:cNvPr>
          <p:cNvSpPr txBox="1"/>
          <p:nvPr/>
        </p:nvSpPr>
        <p:spPr>
          <a:xfrm>
            <a:off x="779780" y="6448842"/>
            <a:ext cx="8448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Some NAV observations are simulated, and investor transaction data is synthetic.</a:t>
            </a:r>
          </a:p>
        </p:txBody>
      </p:sp>
    </p:spTree>
    <p:extLst>
      <p:ext uri="{BB962C8B-B14F-4D97-AF65-F5344CB8AC3E}">
        <p14:creationId xmlns:p14="http://schemas.microsoft.com/office/powerpoint/2010/main" val="308246409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AE11C-A99E-CFF9-0B91-67BD9FA5D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7680"/>
            <a:ext cx="10515600" cy="984860"/>
          </a:xfrm>
        </p:spPr>
        <p:txBody>
          <a:bodyPr/>
          <a:lstStyle/>
          <a:p>
            <a:r>
              <a:rPr lang="en-IN" b="1" dirty="0">
                <a:solidFill>
                  <a:srgbClr val="101B3F"/>
                </a:solidFill>
                <a:latin typeface="Britannic Bold" panose="020B0903060703020204" pitchFamily="34" charset="0"/>
              </a:rPr>
              <a:t>Project Architecture</a:t>
            </a: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4115F4B2-A8ED-362B-41F7-31818B049CEF}"/>
              </a:ext>
            </a:extLst>
          </p:cNvPr>
          <p:cNvSpPr/>
          <p:nvPr/>
        </p:nvSpPr>
        <p:spPr>
          <a:xfrm>
            <a:off x="883920" y="2048353"/>
            <a:ext cx="10424160" cy="658368"/>
          </a:xfrm>
          <a:prstGeom prst="roundRect">
            <a:avLst/>
          </a:prstGeom>
          <a:solidFill>
            <a:srgbClr val="101B3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500" b="1">
                <a:solidFill>
                  <a:srgbClr val="2E69B4"/>
                </a:solidFill>
                <a:latin typeface="Aptos"/>
              </a:defRPr>
            </a:pPr>
            <a:r>
              <a:rPr lang="en-IN" sz="1600" dirty="0">
                <a:solidFill>
                  <a:srgbClr val="EAF0FA"/>
                </a:solidFill>
              </a:rPr>
              <a:t>01  EXTRACT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DCF605-3691-FB87-D4A1-40FAE7697DFB}"/>
              </a:ext>
            </a:extLst>
          </p:cNvPr>
          <p:cNvSpPr txBox="1"/>
          <p:nvPr/>
        </p:nvSpPr>
        <p:spPr>
          <a:xfrm>
            <a:off x="3677265" y="2174412"/>
            <a:ext cx="741352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Read source CSVs and supplied datasets</a:t>
            </a:r>
          </a:p>
          <a:p>
            <a:endParaRPr lang="en-IN" dirty="0"/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6AA536B6-EAE1-7AF3-38B5-7587A02875D0}"/>
              </a:ext>
            </a:extLst>
          </p:cNvPr>
          <p:cNvSpPr/>
          <p:nvPr/>
        </p:nvSpPr>
        <p:spPr>
          <a:xfrm>
            <a:off x="883920" y="2906113"/>
            <a:ext cx="10424160" cy="658368"/>
          </a:xfrm>
          <a:prstGeom prst="roundRect">
            <a:avLst/>
          </a:prstGeom>
          <a:solidFill>
            <a:srgbClr val="101B3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500" b="1">
                <a:solidFill>
                  <a:srgbClr val="2E69B4"/>
                </a:solidFill>
                <a:latin typeface="Aptos"/>
              </a:defRPr>
            </a:pPr>
            <a:r>
              <a:rPr lang="en-IN" sz="1600" dirty="0">
                <a:solidFill>
                  <a:srgbClr val="EAF0FA"/>
                </a:solidFill>
              </a:rPr>
              <a:t>02  TRANSFORM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5150B6-6BB8-10DC-CE32-D9E4FCDEAE9F}"/>
              </a:ext>
            </a:extLst>
          </p:cNvPr>
          <p:cNvSpPr txBox="1"/>
          <p:nvPr/>
        </p:nvSpPr>
        <p:spPr>
          <a:xfrm>
            <a:off x="3677265" y="2991985"/>
            <a:ext cx="719721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Parse dates, check duplicates, validate values, standardise fields</a:t>
            </a:r>
          </a:p>
          <a:p>
            <a:endParaRPr lang="en-IN" dirty="0"/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74680063-34EB-3298-267D-2765EE743985}"/>
              </a:ext>
            </a:extLst>
          </p:cNvPr>
          <p:cNvSpPr/>
          <p:nvPr/>
        </p:nvSpPr>
        <p:spPr>
          <a:xfrm>
            <a:off x="883920" y="3769891"/>
            <a:ext cx="10424160" cy="658368"/>
          </a:xfrm>
          <a:prstGeom prst="roundRect">
            <a:avLst/>
          </a:prstGeom>
          <a:solidFill>
            <a:srgbClr val="101B3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500" b="1">
                <a:solidFill>
                  <a:srgbClr val="2E69B4"/>
                </a:solidFill>
                <a:latin typeface="Aptos"/>
              </a:defRPr>
            </a:pPr>
            <a:r>
              <a:rPr lang="en-IN" sz="1600" dirty="0">
                <a:solidFill>
                  <a:srgbClr val="EAF0FA"/>
                </a:solidFill>
              </a:rPr>
              <a:t>03  LOAD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529E13-80D2-2C1A-28B4-6F608C458DD5}"/>
              </a:ext>
            </a:extLst>
          </p:cNvPr>
          <p:cNvSpPr txBox="1"/>
          <p:nvPr/>
        </p:nvSpPr>
        <p:spPr>
          <a:xfrm>
            <a:off x="3677265" y="3843726"/>
            <a:ext cx="61058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Store prepared data in SQLite tables</a:t>
            </a:r>
          </a:p>
          <a:p>
            <a:endParaRPr lang="en-IN" dirty="0"/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2CF4952B-40EE-10E2-ACAC-21369E4596C8}"/>
              </a:ext>
            </a:extLst>
          </p:cNvPr>
          <p:cNvSpPr/>
          <p:nvPr/>
        </p:nvSpPr>
        <p:spPr>
          <a:xfrm>
            <a:off x="883920" y="4618474"/>
            <a:ext cx="10424160" cy="658368"/>
          </a:xfrm>
          <a:prstGeom prst="roundRect">
            <a:avLst/>
          </a:prstGeom>
          <a:solidFill>
            <a:srgbClr val="101B3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500" b="1">
                <a:solidFill>
                  <a:srgbClr val="2E69B4"/>
                </a:solidFill>
                <a:latin typeface="Aptos"/>
              </a:defRPr>
            </a:pPr>
            <a:r>
              <a:rPr lang="en-IN" sz="1600" dirty="0">
                <a:solidFill>
                  <a:srgbClr val="EAF0FA"/>
                </a:solidFill>
              </a:rPr>
              <a:t>04  ANALYSE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F6A772FD-4454-0CF2-6625-46B2C5A20829}"/>
              </a:ext>
            </a:extLst>
          </p:cNvPr>
          <p:cNvSpPr/>
          <p:nvPr/>
        </p:nvSpPr>
        <p:spPr>
          <a:xfrm>
            <a:off x="883920" y="5467057"/>
            <a:ext cx="10424160" cy="658368"/>
          </a:xfrm>
          <a:prstGeom prst="roundRect">
            <a:avLst/>
          </a:prstGeom>
          <a:solidFill>
            <a:srgbClr val="101B3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500" b="1">
                <a:solidFill>
                  <a:srgbClr val="2E69B4"/>
                </a:solidFill>
                <a:latin typeface="Aptos"/>
              </a:defRPr>
            </a:pPr>
            <a:r>
              <a:rPr lang="en-IN" sz="1600" dirty="0">
                <a:solidFill>
                  <a:srgbClr val="EAF0FA"/>
                </a:solidFill>
              </a:rPr>
              <a:t>05 VISUALISE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3CF632-ED4E-1010-537B-13F370A1D76C}"/>
              </a:ext>
            </a:extLst>
          </p:cNvPr>
          <p:cNvSpPr txBox="1"/>
          <p:nvPr/>
        </p:nvSpPr>
        <p:spPr>
          <a:xfrm>
            <a:off x="3677265" y="4708352"/>
            <a:ext cx="62259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Use SQL queries and Python notebooks</a:t>
            </a:r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753B77-6F8C-3617-D845-92FAD55E0C04}"/>
              </a:ext>
            </a:extLst>
          </p:cNvPr>
          <p:cNvSpPr txBox="1"/>
          <p:nvPr/>
        </p:nvSpPr>
        <p:spPr>
          <a:xfrm>
            <a:off x="3677265" y="5591468"/>
            <a:ext cx="66978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Present findings in 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433650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D63B3-64B1-E32F-F181-FB31F1060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101B3F"/>
                </a:solidFill>
                <a:latin typeface="Britannic Bold" panose="020B0903060703020204" pitchFamily="34" charset="0"/>
              </a:rPr>
              <a:t>EDA Highlights - Industry Trends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14AE50-C3AB-05B3-B2B1-CF6118DD0380}"/>
              </a:ext>
            </a:extLst>
          </p:cNvPr>
          <p:cNvSpPr txBox="1"/>
          <p:nvPr/>
        </p:nvSpPr>
        <p:spPr>
          <a:xfrm>
            <a:off x="838200" y="153679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6E7D"/>
                </a:solidFill>
                <a:latin typeface="Aptos"/>
              </a:defRPr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Findings describe the prepared project dataset—not the entire industry.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FF6AB2A5-EF1E-BEC4-857F-194869F97DFF}"/>
              </a:ext>
            </a:extLst>
          </p:cNvPr>
          <p:cNvSpPr/>
          <p:nvPr/>
        </p:nvSpPr>
        <p:spPr>
          <a:xfrm>
            <a:off x="953729" y="2133600"/>
            <a:ext cx="3303639" cy="2713703"/>
          </a:xfrm>
          <a:prstGeom prst="round2DiagRect">
            <a:avLst/>
          </a:prstGeom>
          <a:solidFill>
            <a:srgbClr val="101B3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400" dirty="0"/>
              <a:t>Highest AUM</a:t>
            </a:r>
          </a:p>
          <a:p>
            <a:r>
              <a:rPr lang="en-IN" sz="3400" b="1" dirty="0"/>
              <a:t>SBI MF</a:t>
            </a:r>
          </a:p>
          <a:p>
            <a:endParaRPr lang="en-IN" sz="2000" dirty="0"/>
          </a:p>
          <a:p>
            <a:r>
              <a:rPr lang="en-IN" sz="2000" dirty="0"/>
              <a:t>Highest displayed AUM in the 2025 comparison.</a:t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21327DD9-21FD-4B27-C99B-FA454D9333EC}"/>
              </a:ext>
            </a:extLst>
          </p:cNvPr>
          <p:cNvSpPr/>
          <p:nvPr/>
        </p:nvSpPr>
        <p:spPr>
          <a:xfrm>
            <a:off x="4793225" y="2133599"/>
            <a:ext cx="3303639" cy="2713703"/>
          </a:xfrm>
          <a:prstGeom prst="round2DiagRect">
            <a:avLst/>
          </a:prstGeom>
          <a:solidFill>
            <a:srgbClr val="101B3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400" dirty="0"/>
              <a:t>Highest SIP Inflow</a:t>
            </a:r>
          </a:p>
          <a:p>
            <a:r>
              <a:rPr lang="en-IN" sz="3400" b="1" dirty="0"/>
              <a:t>₹31,002 Cr</a:t>
            </a:r>
          </a:p>
          <a:p>
            <a:endParaRPr lang="en-IN" sz="2000" dirty="0"/>
          </a:p>
          <a:p>
            <a:r>
              <a:rPr lang="en-IN" sz="2000" dirty="0"/>
              <a:t>December 2025.</a:t>
            </a: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BDED755B-F3E7-E5D7-2483-2A9D11C3A0FC}"/>
              </a:ext>
            </a:extLst>
          </p:cNvPr>
          <p:cNvSpPr/>
          <p:nvPr/>
        </p:nvSpPr>
        <p:spPr>
          <a:xfrm>
            <a:off x="8495069" y="2133598"/>
            <a:ext cx="3303639" cy="2713703"/>
          </a:xfrm>
          <a:prstGeom prst="round2DiagRect">
            <a:avLst/>
          </a:prstGeom>
          <a:solidFill>
            <a:srgbClr val="101B3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400" dirty="0"/>
              <a:t>Folio Growth</a:t>
            </a:r>
          </a:p>
          <a:p>
            <a:r>
              <a:rPr lang="en-IN" sz="3400" b="1" dirty="0"/>
              <a:t>+97%</a:t>
            </a:r>
          </a:p>
          <a:p>
            <a:endParaRPr lang="en-IN" sz="2000" dirty="0"/>
          </a:p>
          <a:p>
            <a:r>
              <a:rPr lang="en-IN" sz="2000" dirty="0"/>
              <a:t>13.26 Cr to 26.12 Cr folios.</a:t>
            </a: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14078A68-2C19-B639-44F4-1E23D8258D68}"/>
              </a:ext>
            </a:extLst>
          </p:cNvPr>
          <p:cNvSpPr/>
          <p:nvPr/>
        </p:nvSpPr>
        <p:spPr>
          <a:xfrm>
            <a:off x="1076632" y="2048536"/>
            <a:ext cx="3057832" cy="289026"/>
          </a:xfrm>
          <a:prstGeom prst="mathMinus">
            <a:avLst/>
          </a:prstGeom>
          <a:solidFill>
            <a:srgbClr val="F28C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B544F95B-6ABD-3B2D-D14E-299680B31979}"/>
              </a:ext>
            </a:extLst>
          </p:cNvPr>
          <p:cNvSpPr/>
          <p:nvPr/>
        </p:nvSpPr>
        <p:spPr>
          <a:xfrm>
            <a:off x="4999706" y="2048536"/>
            <a:ext cx="3057832" cy="289026"/>
          </a:xfrm>
          <a:prstGeom prst="mathMinus">
            <a:avLst/>
          </a:prstGeom>
          <a:solidFill>
            <a:srgbClr val="F28C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FFCDBBCF-B88E-60FF-9EFE-AD4B5413F150}"/>
              </a:ext>
            </a:extLst>
          </p:cNvPr>
          <p:cNvSpPr/>
          <p:nvPr/>
        </p:nvSpPr>
        <p:spPr>
          <a:xfrm>
            <a:off x="8632721" y="2048536"/>
            <a:ext cx="3057832" cy="289026"/>
          </a:xfrm>
          <a:prstGeom prst="mathMinus">
            <a:avLst/>
          </a:prstGeom>
          <a:solidFill>
            <a:srgbClr val="F28C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202750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A27688-7A91-8B11-F4C8-53895546D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7F7B-2911-0606-FD74-5B48CE712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101B3F"/>
                </a:solidFill>
                <a:latin typeface="Britannic Bold" panose="020B0903060703020204" pitchFamily="34" charset="0"/>
              </a:rPr>
              <a:t>EDA Highlights - Investor &amp; Holdings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536A29-E58C-CA7E-BF8E-9950EC29CC64}"/>
              </a:ext>
            </a:extLst>
          </p:cNvPr>
          <p:cNvSpPr txBox="1"/>
          <p:nvPr/>
        </p:nvSpPr>
        <p:spPr>
          <a:xfrm>
            <a:off x="838200" y="153679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6E7D"/>
                </a:solidFill>
                <a:latin typeface="Aptos"/>
              </a:defRPr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Findings describe the prepared project dataset—not the entire industry.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D624A6AE-9C7A-2CFC-2529-7B0F6673E374}"/>
              </a:ext>
            </a:extLst>
          </p:cNvPr>
          <p:cNvSpPr/>
          <p:nvPr/>
        </p:nvSpPr>
        <p:spPr>
          <a:xfrm>
            <a:off x="953729" y="2133600"/>
            <a:ext cx="3303639" cy="2713703"/>
          </a:xfrm>
          <a:prstGeom prst="round2DiagRect">
            <a:avLst/>
          </a:prstGeom>
          <a:solidFill>
            <a:srgbClr val="101B3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dirty="0"/>
              <a:t>Most Frequent Transaction</a:t>
            </a:r>
          </a:p>
          <a:p>
            <a:r>
              <a:rPr lang="en-IN" sz="3200" b="1" dirty="0"/>
              <a:t>19,716</a:t>
            </a:r>
          </a:p>
          <a:p>
            <a:endParaRPr lang="en-IN" sz="2000" dirty="0"/>
          </a:p>
          <a:p>
            <a:r>
              <a:rPr lang="en-IN" sz="2000" dirty="0"/>
              <a:t>SIP transaction records.</a:t>
            </a:r>
          </a:p>
          <a:p>
            <a:endParaRPr lang="en-IN" sz="2000" dirty="0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D4C59F0-4F5F-8439-A096-876E5CA916DC}"/>
              </a:ext>
            </a:extLst>
          </p:cNvPr>
          <p:cNvSpPr/>
          <p:nvPr/>
        </p:nvSpPr>
        <p:spPr>
          <a:xfrm>
            <a:off x="4793225" y="2133599"/>
            <a:ext cx="3303639" cy="2713703"/>
          </a:xfrm>
          <a:prstGeom prst="round2DiagRect">
            <a:avLst/>
          </a:prstGeom>
          <a:solidFill>
            <a:srgbClr val="101B3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dirty="0"/>
              <a:t>Daily Return Correlations</a:t>
            </a:r>
          </a:p>
          <a:p>
            <a:r>
              <a:rPr lang="en-IN" sz="3200" b="1" dirty="0"/>
              <a:t>−0.39 to 0.68</a:t>
            </a:r>
          </a:p>
          <a:p>
            <a:endParaRPr lang="en-IN" sz="2000" dirty="0"/>
          </a:p>
          <a:p>
            <a:r>
              <a:rPr lang="en-IN" sz="2000" dirty="0"/>
              <a:t>Range for selected funds.</a:t>
            </a:r>
          </a:p>
          <a:p>
            <a:endParaRPr lang="en-IN" sz="2000" dirty="0"/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0806330A-5A06-2991-2AE6-030DA8848C5C}"/>
              </a:ext>
            </a:extLst>
          </p:cNvPr>
          <p:cNvSpPr/>
          <p:nvPr/>
        </p:nvSpPr>
        <p:spPr>
          <a:xfrm>
            <a:off x="8495069" y="2133598"/>
            <a:ext cx="3303639" cy="2713703"/>
          </a:xfrm>
          <a:prstGeom prst="round2DiagRect">
            <a:avLst/>
          </a:prstGeom>
          <a:solidFill>
            <a:srgbClr val="101B3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dirty="0"/>
              <a:t>Sector Weight</a:t>
            </a:r>
          </a:p>
          <a:p>
            <a:r>
              <a:rPr lang="en-IN" sz="3200" b="1" dirty="0"/>
              <a:t>Banking</a:t>
            </a:r>
          </a:p>
          <a:p>
            <a:endParaRPr lang="en-IN" sz="2000" dirty="0"/>
          </a:p>
          <a:p>
            <a:r>
              <a:rPr lang="en-IN" sz="2000" dirty="0"/>
              <a:t>Largest summed sector weight in the available holdings records.</a:t>
            </a:r>
          </a:p>
          <a:p>
            <a:endParaRPr lang="en-IN" sz="2000" dirty="0"/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74370C27-4723-AA0A-7101-008DE764DC17}"/>
              </a:ext>
            </a:extLst>
          </p:cNvPr>
          <p:cNvSpPr/>
          <p:nvPr/>
        </p:nvSpPr>
        <p:spPr>
          <a:xfrm>
            <a:off x="953729" y="4598058"/>
            <a:ext cx="3057832" cy="289026"/>
          </a:xfrm>
          <a:prstGeom prst="mathMinus">
            <a:avLst/>
          </a:prstGeom>
          <a:solidFill>
            <a:srgbClr val="F28C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9D097209-574D-AD75-3ACA-A6A4052FA23A}"/>
              </a:ext>
            </a:extLst>
          </p:cNvPr>
          <p:cNvSpPr/>
          <p:nvPr/>
        </p:nvSpPr>
        <p:spPr>
          <a:xfrm>
            <a:off x="4916128" y="4598058"/>
            <a:ext cx="3057832" cy="289026"/>
          </a:xfrm>
          <a:prstGeom prst="mathMinus">
            <a:avLst/>
          </a:prstGeom>
          <a:solidFill>
            <a:srgbClr val="F28C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1F8184AD-5E68-EBCC-D5ED-A270A1FD060C}"/>
              </a:ext>
            </a:extLst>
          </p:cNvPr>
          <p:cNvSpPr/>
          <p:nvPr/>
        </p:nvSpPr>
        <p:spPr>
          <a:xfrm>
            <a:off x="8617972" y="4598058"/>
            <a:ext cx="3057832" cy="289026"/>
          </a:xfrm>
          <a:prstGeom prst="mathMinus">
            <a:avLst/>
          </a:prstGeom>
          <a:solidFill>
            <a:srgbClr val="F28C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00038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D98612-5AD2-2F14-9E0A-6402440F944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7568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CCDCE7-B977-C969-8E04-05A2EFC88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70833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BB6D6-3EEC-CC5C-F84B-BA580294A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0"/>
            <a:ext cx="1175512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101B3F"/>
                </a:solidFill>
                <a:latin typeface="Britannic Bold" panose="020B0903060703020204" pitchFamily="34" charset="0"/>
              </a:rPr>
              <a:t>Power BI Dashboard — Industry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601532-19CE-FA6B-3A49-6F563799B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80" y="1178560"/>
            <a:ext cx="11318240" cy="552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9910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41056-8EE4-F465-3272-E3DA52010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9F5D8-AF56-7D98-FFEE-9D0932AE5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0"/>
            <a:ext cx="1175512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101B3F"/>
                </a:solidFill>
                <a:latin typeface="Britannic Bold" panose="020B0903060703020204" pitchFamily="34" charset="0"/>
              </a:rPr>
              <a:t>Power BI Dashboard — Fund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FD04AF-73BF-AD51-5A5A-7C8BD670C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80" y="1325563"/>
            <a:ext cx="11440160" cy="535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94871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5AFD9-6F7C-5677-B06A-A776E4488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0025-F815-7305-20F2-5150B9E5F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0"/>
            <a:ext cx="1175512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101B3F"/>
                </a:solidFill>
                <a:latin typeface="Britannic Bold" panose="020B0903060703020204" pitchFamily="34" charset="0"/>
              </a:rPr>
              <a:t>Power BI Dashboard — Investor Analytics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AB3DBC-48AC-A128-FAE6-392654937E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20" y="1101535"/>
            <a:ext cx="11318239" cy="559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54770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880C03-4CAD-E057-99E9-02C05CD72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B07C7-D8A2-CC7D-1771-FC5F23262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0"/>
            <a:ext cx="1175512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101B3F"/>
                </a:solidFill>
                <a:latin typeface="Britannic Bold" panose="020B0903060703020204" pitchFamily="34" charset="0"/>
              </a:rPr>
              <a:t>Power BI Dashboard — SIP &amp; Market Trends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EF1C3-8AFA-AAD1-506C-26A4D2771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20" y="1076960"/>
            <a:ext cx="11331643" cy="565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8045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125F8-33D5-24EE-45FF-50D7D5396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70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101B3F"/>
                </a:solidFill>
                <a:latin typeface="Britannic Bold" panose="020B0903060703020204" pitchFamily="34" charset="0"/>
              </a:rPr>
              <a:t>Key Findings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EA43A4B-825F-2EB5-9AEA-A2A3713D9166}"/>
              </a:ext>
            </a:extLst>
          </p:cNvPr>
          <p:cNvCxnSpPr>
            <a:cxnSpLocks/>
            <a:stCxn id="4" idx="0"/>
            <a:endCxn id="16" idx="4"/>
          </p:cNvCxnSpPr>
          <p:nvPr/>
        </p:nvCxnSpPr>
        <p:spPr>
          <a:xfrm>
            <a:off x="1221740" y="1542657"/>
            <a:ext cx="0" cy="4284000"/>
          </a:xfrm>
          <a:prstGeom prst="lin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6A1EA-BB12-3C0D-D328-519F3885A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0720" y="1542658"/>
            <a:ext cx="9748520" cy="950912"/>
          </a:xfrm>
        </p:spPr>
        <p:txBody>
          <a:bodyPr/>
          <a:lstStyle/>
          <a:p>
            <a:pPr marL="0" lvl="0" indent="0">
              <a:buNone/>
            </a:pPr>
            <a:r>
              <a:rPr lang="en-IN" b="1" dirty="0">
                <a:solidFill>
                  <a:srgbClr val="3B1580"/>
                </a:solidFill>
              </a:rPr>
              <a:t>Data</a:t>
            </a:r>
            <a:r>
              <a:rPr lang="en-IN" b="1" dirty="0">
                <a:solidFill>
                  <a:srgbClr val="6C4DC8"/>
                </a:solidFill>
              </a:rPr>
              <a:t> </a:t>
            </a:r>
            <a:r>
              <a:rPr lang="en-IN" b="1" dirty="0">
                <a:solidFill>
                  <a:srgbClr val="3B1580"/>
                </a:solidFill>
              </a:rPr>
              <a:t>Integration</a:t>
            </a:r>
            <a:r>
              <a:rPr lang="en-IN" dirty="0"/>
              <a:t>: Multiple mutual fund datasets were brought into one analytics workflow.</a:t>
            </a:r>
          </a:p>
          <a:p>
            <a:endParaRPr lang="en-IN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B48FB110-6C63-75CF-A620-98C38B16CE1C}"/>
              </a:ext>
            </a:extLst>
          </p:cNvPr>
          <p:cNvSpPr/>
          <p:nvPr/>
        </p:nvSpPr>
        <p:spPr>
          <a:xfrm>
            <a:off x="838200" y="1542658"/>
            <a:ext cx="767080" cy="737552"/>
          </a:xfrm>
          <a:prstGeom prst="flowChartConnector">
            <a:avLst/>
          </a:prstGeom>
          <a:solidFill>
            <a:srgbClr val="101B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Arial Black" panose="020B0A04020102020204" pitchFamily="34" charset="0"/>
              </a:rPr>
              <a:t>1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067DE42-7E57-FA6E-5DFC-121CBE33A879}"/>
              </a:ext>
            </a:extLst>
          </p:cNvPr>
          <p:cNvSpPr/>
          <p:nvPr/>
        </p:nvSpPr>
        <p:spPr>
          <a:xfrm>
            <a:off x="838200" y="2650098"/>
            <a:ext cx="767080" cy="737552"/>
          </a:xfrm>
          <a:prstGeom prst="flowChartConnector">
            <a:avLst/>
          </a:prstGeom>
          <a:solidFill>
            <a:srgbClr val="101B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Arial Black" panose="020B0A04020102020204" pitchFamily="34" charset="0"/>
              </a:rPr>
              <a:t>2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893029-AE45-5A01-28B5-450B544D6744}"/>
              </a:ext>
            </a:extLst>
          </p:cNvPr>
          <p:cNvSpPr txBox="1"/>
          <p:nvPr/>
        </p:nvSpPr>
        <p:spPr>
          <a:xfrm>
            <a:off x="1971040" y="2640468"/>
            <a:ext cx="98145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800" b="1" dirty="0">
                <a:solidFill>
                  <a:srgbClr val="3B1580"/>
                </a:solidFill>
              </a:rPr>
              <a:t>Data Quality</a:t>
            </a:r>
            <a:r>
              <a:rPr lang="en-IN" sz="2800" dirty="0"/>
              <a:t>: Cleaning and validation helped prepare the data for analysis.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E69A85CC-1EC3-238A-47E5-574310AE8B4C}"/>
              </a:ext>
            </a:extLst>
          </p:cNvPr>
          <p:cNvSpPr/>
          <p:nvPr/>
        </p:nvSpPr>
        <p:spPr>
          <a:xfrm>
            <a:off x="829311" y="3815322"/>
            <a:ext cx="767080" cy="737552"/>
          </a:xfrm>
          <a:prstGeom prst="flowChartConnector">
            <a:avLst/>
          </a:prstGeom>
          <a:solidFill>
            <a:srgbClr val="101B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Arial Black" panose="020B0A04020102020204" pitchFamily="34" charset="0"/>
              </a:rPr>
              <a:t>3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7089D7-D37D-8696-125C-00571414583F}"/>
              </a:ext>
            </a:extLst>
          </p:cNvPr>
          <p:cNvSpPr txBox="1"/>
          <p:nvPr/>
        </p:nvSpPr>
        <p:spPr>
          <a:xfrm>
            <a:off x="1988820" y="3777832"/>
            <a:ext cx="95808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3B1580"/>
                </a:solidFill>
              </a:rPr>
              <a:t>Performance Analysis</a:t>
            </a:r>
            <a:r>
              <a:rPr lang="en-IN" sz="2800" dirty="0"/>
              <a:t>: The project calculated return and risk measures to compare funds.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2898E582-9DBC-58AC-071B-C67B0FC2B61A}"/>
              </a:ext>
            </a:extLst>
          </p:cNvPr>
          <p:cNvSpPr/>
          <p:nvPr/>
        </p:nvSpPr>
        <p:spPr>
          <a:xfrm>
            <a:off x="838200" y="5064357"/>
            <a:ext cx="767080" cy="737552"/>
          </a:xfrm>
          <a:prstGeom prst="flowChartConnector">
            <a:avLst/>
          </a:prstGeom>
          <a:solidFill>
            <a:srgbClr val="101B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Arial Black" panose="020B0A04020102020204" pitchFamily="34" charset="0"/>
              </a:rPr>
              <a:t>4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99F4C5-35F1-C3E9-1C5D-1B078EF12DB9}"/>
              </a:ext>
            </a:extLst>
          </p:cNvPr>
          <p:cNvSpPr txBox="1"/>
          <p:nvPr/>
        </p:nvSpPr>
        <p:spPr>
          <a:xfrm>
            <a:off x="1950720" y="4945434"/>
            <a:ext cx="95808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3B1580"/>
                </a:solidFill>
              </a:rPr>
              <a:t>Interactive Dashboard</a:t>
            </a:r>
            <a:r>
              <a:rPr lang="en-IN" sz="2800" dirty="0"/>
              <a:t>: Power BI brings industry trends, fund performance, investor analytics, and SIP trends together.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397CE7-CAED-7053-A77A-31FE9C8929E6}"/>
              </a:ext>
            </a:extLst>
          </p:cNvPr>
          <p:cNvSpPr txBox="1"/>
          <p:nvPr/>
        </p:nvSpPr>
        <p:spPr>
          <a:xfrm>
            <a:off x="1000760" y="6416347"/>
            <a:ext cx="11521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/>
              <a:t>Some data is simulated or synthetic; findings should be interpreted within the project’s dataset and limitations.</a:t>
            </a:r>
          </a:p>
        </p:txBody>
      </p:sp>
    </p:spTree>
    <p:extLst>
      <p:ext uri="{BB962C8B-B14F-4D97-AF65-F5344CB8AC3E}">
        <p14:creationId xmlns:p14="http://schemas.microsoft.com/office/powerpoint/2010/main" val="360016337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2AFF0A-8715-4E2C-680B-CBBD329A9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6C1F656-C6CB-F1B4-F5BB-817B5C22B893}"/>
              </a:ext>
            </a:extLst>
          </p:cNvPr>
          <p:cNvSpPr/>
          <p:nvPr/>
        </p:nvSpPr>
        <p:spPr>
          <a:xfrm>
            <a:off x="558800" y="365760"/>
            <a:ext cx="2946400" cy="6908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Bluestock - IPO Information Platform">
            <a:extLst>
              <a:ext uri="{FF2B5EF4-FFF2-40B4-BE49-F238E27FC236}">
                <a16:creationId xmlns:a16="http://schemas.microsoft.com/office/drawing/2014/main" id="{FA92B52D-F001-2078-2679-F39876CA1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59" y="528320"/>
            <a:ext cx="2866081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890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365</Words>
  <Application>Microsoft Office PowerPoint</Application>
  <PresentationFormat>Widescreen</PresentationFormat>
  <Paragraphs>78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Britannic Bold</vt:lpstr>
      <vt:lpstr>Calibri</vt:lpstr>
      <vt:lpstr>Calibri Light</vt:lpstr>
      <vt:lpstr>Segoe UI Semilight</vt:lpstr>
      <vt:lpstr>Office Theme</vt:lpstr>
      <vt:lpstr>Mutual Fund Analytics Platform</vt:lpstr>
      <vt:lpstr>Problem &amp; Objective</vt:lpstr>
      <vt:lpstr>Data Sources</vt:lpstr>
      <vt:lpstr>Project Architecture</vt:lpstr>
      <vt:lpstr>EDA Highlights - Industry Trends</vt:lpstr>
      <vt:lpstr>EDA Highlights - Investor &amp; Holdings Insights</vt:lpstr>
      <vt:lpstr>PowerPoint Presentation</vt:lpstr>
      <vt:lpstr>PowerPoint Presentation</vt:lpstr>
      <vt:lpstr>Power BI Dashboard — Industry Overview</vt:lpstr>
      <vt:lpstr>Power BI Dashboard — Fund Performance</vt:lpstr>
      <vt:lpstr>Power BI Dashboard — Investor Analytics</vt:lpstr>
      <vt:lpstr>Power BI Dashboard — SIP &amp; Market Trends</vt:lpstr>
      <vt:lpstr>Key Findings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Ridhi Jain</dc:creator>
  <cp:lastModifiedBy>Ridhi Jain</cp:lastModifiedBy>
  <cp:revision>1</cp:revision>
  <dcterms:created xsi:type="dcterms:W3CDTF">2026-09-15T08:39:27Z</dcterms:created>
  <dcterms:modified xsi:type="dcterms:W3CDTF">2026-09-15T10:38:38Z</dcterms:modified>
</cp:coreProperties>
</file>